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from the estimator's pain. A commercial HVAC project has dozens of 36x24 sheets, each packed with hundreds of symbols. The estimator manually counts each device, cross-references the schedule for specs, and types it into Excel. It's tedious, slow, and easy to miss items or mis-spec. That directly affects bid accuracy and profit. This is the job we're automating.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summary: feed it the PDF, it gives back a takeoff. Five steps — ingest, detect, tag/schedule, reconcile, output — plus a learning loop. It's a working web app the estimators use: upload, view detections on the plan, correct mistakes, download the Excel. Stack: FastAPI backend + Next.js frontend, YOLOv8 for vision, PyMuPDF + OCR for the document, openpyxl for Excel.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the system into 4 parts by the accuracy each one owns. This matters: it lets us measure and improve each independently instead of guessing. Part 1 decides WHERE to look; Part 2 decides WHAT'S there; Part 3 reads the specs and matches; Part 4 delivers and learns. Key point for the VP: only Part 2 is a trained AI model — the rest is deterministic rules, which makes them reliable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Garbage-in prevention. If you scan the wrong pages you miss equipment or invent phantoms. We replaced a brittle filter with a fused decision that votes across multiple signals, so it's robust to different firms' numbering/title styles. Concrete wins: one project went from 4 to 10 detected plan pages (it was silently dropping 6 real plans); another stopped counting a schedule sheet as a plan (a phantom source). Measured recall = 1.00 — we don't drop real plans.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and it's Titus-relevant. The raw benchmark first read low (~31%), but we proved that was mostly a LABELING mismatch, not blindness — the model actually detects ~84% of the air devices on held-out plans, at 94% precision. Diffusers/grilles look nearly identical, so the model can't tell the subtype visually — but it doesn't need to: the tag + schedule tell us the exact product, neck size, and model. That division of labor is the core design and it's exactly the air-distribution category Titus makes.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it becomes a real takeoff, not just boxes. We read the schedule into per-tag specs, attach each detection to its tag, and produce line items with brand/model/neck/CFM. Reconciliation is the trust layer — it compares what we found vs what the schedule says should exist and flags differences instead of hiding them. And the product description in the output comes from the schedule, matching how the team already writes takeoffs.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is drop-in for the team's workflow (byte-identical Excel format; Bluebeam stamps they work with). The strategic part is the flywheel: the tool improves from normal work, not a separate labeling project. The benchmark 'gate' is the discipline that keeps quality up — a new model only ships if it objectively beats the old one on drawings it never saw. We caught and rejected a bad model this way (it would have regressed accuracy).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everything for adoption. Two principles: (1) measure on held-out drawings the model never saw — real generalization, not memorization; (2) the tool is an ASSIST — it shows its work, flags what it's unsure of, and the estimator verifies. We don't claim 100%; we claim honest, measurable, and improving. That's how an estimating team actually trusts and uses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durable competitive moat. Years of completed takeoffs are a goldmine of labeled examples. We built the pipeline to mine them automatically. The classes the model was blind to (because it had ~6 examples) now have hundreds-to-thousands. Every project the team does makes the data — and the model — stronger. No competitor without this data history can replicate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and confident. What's live today already helps: right pages, ~84% detection, correct specs from the schedule, fewer false positives, honest flagging. The next jump — detecting the rarer equipment (RTUs, fire-smoke dampers) — is fully built and one GPU training run from deploying; the data and the safety gate are ready. We're not pitching vapor; we're pitching a working tool with a clear, funded next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VP cares about most. Our 84% sweet spot IS air distribution — diffusers, grilles, registers, louvers — Titus's bread and butter. We already pull neck size, CFM, and model from the schedule, which is exactly what Titus Selection Navigator needs as input. Imagine: drawing in → Titus-product BOM out, with selections and pricing. That accelerates quoting and pulls more Titus product through. There's a real partnership/integration story here, not just a software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trajectory. Near term: finish the detection upgrade, ship it. Mid term: the Titus integration (the differentiator) and multi-document understanding. Long term: extend the same vision+schedule engine to plumbing and electrical, and productize as SaaS for the broader market. Each step compounds on the data flywheel. The Titus angle can be the wedge that funds and shapes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plane on the big picture. We're turning a slow, manual, error-prone job into an instant, accurate, self-improving one — and the output is specced to the manufacturer level. For Titus that means more of the right product specified, faster. For Triune it's a proprietary, compounding asset. Close on the partnership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concrete asks, scaled to how the meeting goes. Minimum: offer a live demo. Bigger: propose the Selection Navigator integration and a pilot. Have a clear, low-friction next step ready so the VP can say yes to something.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2286000"/>
          </a:xfrm>
          <a:prstGeom prst="rect">
            <a:avLst/>
          </a:prstGeom>
          <a:noFill/>
        </p:spPr>
        <p:txBody>
          <a:bodyPr wrap="square">
            <a:spAutoFit/>
          </a:bodyPr>
          <a:lstStyle/>
          <a:p>
            <a:r>
              <a:rPr sz="4000" b="1">
                <a:solidFill>
                  <a:srgbClr val="FFFFFF"/>
                </a:solidFill>
              </a:rPr>
              <a:t>HVAC AI Takeoff Tool</a:t>
            </a:r>
          </a:p>
          <a:p>
            <a:r>
              <a:rPr sz="2000">
                <a:solidFill>
                  <a:srgbClr val="BFD7EA"/>
                </a:solidFill>
              </a:rPr>
              <a:t>Automated equipment takeoff from construction drawings — detect, spec, and quantify HVAC air-distribution &amp; equipment</a:t>
            </a:r>
          </a:p>
          <a:p>
            <a:r>
              <a:rPr sz="1400">
                <a:solidFill>
                  <a:srgbClr val="9FB3C8"/>
                </a:solidFill>
              </a:rPr>
              <a:t>Triune Solutions  ·  Presented to the VP of Titus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The problem we set out to solve</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HVAC estimators do takeoffs by hand — slow, costly, error-prone</a:t>
            </a:r>
          </a:p>
          <a:p>
            <a:pPr lvl="1">
              <a:spcAft>
                <a:spcPts val="700"/>
              </a:spcAft>
            </a:pPr>
            <a:r>
              <a:rPr sz="1700">
                <a:solidFill>
                  <a:srgbClr val="555555"/>
                </a:solidFill>
              </a:rPr>
              <a:t>– Count every diffuser, grille, register, damper, fan &amp; unit across dozens of E-size sheets</a:t>
            </a:r>
          </a:p>
          <a:p>
            <a:pPr lvl="1">
              <a:spcAft>
                <a:spcPts val="700"/>
              </a:spcAft>
            </a:pPr>
            <a:r>
              <a:rPr sz="1700">
                <a:solidFill>
                  <a:srgbClr val="555555"/>
                </a:solidFill>
              </a:rPr>
              <a:t>– Look each tag up in the equipment schedule for its specs (CFM, neck size, model, brand)</a:t>
            </a:r>
          </a:p>
          <a:p>
            <a:pPr lvl="1">
              <a:spcAft>
                <a:spcPts val="700"/>
              </a:spcAft>
            </a:pPr>
            <a:r>
              <a:rPr sz="1700">
                <a:solidFill>
                  <a:srgbClr val="555555"/>
                </a:solidFill>
              </a:rPr>
              <a:t>– Record it, mark it off, build the Bill of Materials</a:t>
            </a:r>
          </a:p>
          <a:p>
            <a:pPr>
              <a:spcAft>
                <a:spcPts val="700"/>
              </a:spcAft>
            </a:pPr>
            <a:r>
              <a:rPr sz="1900" b="1">
                <a:solidFill>
                  <a:srgbClr val="0E2A47"/>
                </a:solidFill>
              </a:rPr>
              <a:t>• A single project = hours to days of manual counting; mistakes cost bids and margin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What we built</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An AI tool that reads a drawing-set PDF and produces a quantified takeoff</a:t>
            </a:r>
          </a:p>
          <a:p>
            <a:pPr lvl="1">
              <a:spcAft>
                <a:spcPts val="700"/>
              </a:spcAft>
            </a:pPr>
            <a:r>
              <a:rPr sz="1700">
                <a:solidFill>
                  <a:srgbClr val="555555"/>
                </a:solidFill>
              </a:rPr>
              <a:t>– Detects equipment symbols on the plans with computer vision (YOLOv8)</a:t>
            </a:r>
          </a:p>
          <a:p>
            <a:pPr lvl="1">
              <a:spcAft>
                <a:spcPts val="700"/>
              </a:spcAft>
            </a:pPr>
            <a:r>
              <a:rPr sz="1700">
                <a:solidFill>
                  <a:srgbClr val="555555"/>
                </a:solidFill>
              </a:rPr>
              <a:t>– Matches each to its tag and the equipment schedule (specs)</a:t>
            </a:r>
          </a:p>
          <a:p>
            <a:pPr lvl="1">
              <a:spcAft>
                <a:spcPts val="700"/>
              </a:spcAft>
            </a:pPr>
            <a:r>
              <a:rPr sz="1700">
                <a:solidFill>
                  <a:srgbClr val="555555"/>
                </a:solidFill>
              </a:rPr>
              <a:t>– Reconciles detected counts against the schedule; flags discrepancies</a:t>
            </a:r>
          </a:p>
          <a:p>
            <a:pPr lvl="1">
              <a:spcAft>
                <a:spcPts val="700"/>
              </a:spcAft>
            </a:pPr>
            <a:r>
              <a:rPr sz="1700">
                <a:solidFill>
                  <a:srgbClr val="555555"/>
                </a:solidFill>
              </a:rPr>
              <a:t>– Outputs an Excel takeoff + an annotated &amp; Bluebeam-ready PDF — in the team's format</a:t>
            </a:r>
          </a:p>
          <a:p>
            <a:pPr>
              <a:spcAft>
                <a:spcPts val="700"/>
              </a:spcAft>
            </a:pPr>
            <a:r>
              <a:rPr sz="1900" b="1">
                <a:solidFill>
                  <a:srgbClr val="0E2A47"/>
                </a:solidFill>
              </a:rPr>
              <a:t>• Learns continuously from estimator corrections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How it works — the pipeline</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Part 1 · Intake &amp; Page Understanding — pick the real plan pages, read legend/schedule/title block</a:t>
            </a:r>
          </a:p>
          <a:p>
            <a:pPr>
              <a:spcAft>
                <a:spcPts val="700"/>
              </a:spcAft>
            </a:pPr>
            <a:r>
              <a:rPr sz="1900" b="1">
                <a:solidFill>
                  <a:srgbClr val="0E2A47"/>
                </a:solidFill>
              </a:rPr>
              <a:t>• Part 2 · Detection — YOLO finds the equipment symbols on those plans</a:t>
            </a:r>
          </a:p>
          <a:p>
            <a:pPr>
              <a:spcAft>
                <a:spcPts val="700"/>
              </a:spcAft>
            </a:pPr>
            <a:r>
              <a:rPr sz="1900" b="1">
                <a:solidFill>
                  <a:srgbClr val="0E2A47"/>
                </a:solidFill>
              </a:rPr>
              <a:t>• Part 3 · Extraction &amp; Reconciliation — parse schedule, assign tags, match &amp; reconcile</a:t>
            </a:r>
          </a:p>
          <a:p>
            <a:pPr>
              <a:spcAft>
                <a:spcPts val="700"/>
              </a:spcAft>
            </a:pPr>
            <a:r>
              <a:rPr sz="1900" b="1">
                <a:solidFill>
                  <a:srgbClr val="0E2A47"/>
                </a:solidFill>
              </a:rPr>
              <a:t>• Part 4 · Delivery &amp; Learning — Excel/Bluebeam output + the self-improving loop</a:t>
            </a:r>
          </a:p>
          <a:p>
            <a:pPr>
              <a:spcAft>
                <a:spcPts val="700"/>
              </a:spcAft>
            </a:pPr>
            <a:r>
              <a:rPr sz="1900" b="1">
                <a:solidFill>
                  <a:srgbClr val="0E2A47"/>
                </a:solidFill>
              </a:rPr>
              <a:t>• Each part owns one job and one accuracy number — so we can fix and measure them independently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Part 1 — Reading the document (page selection)</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Picks the real floor-plan pages across ANY engineer's drawing style</a:t>
            </a:r>
          </a:p>
          <a:p>
            <a:pPr lvl="1">
              <a:spcAft>
                <a:spcPts val="700"/>
              </a:spcAft>
            </a:pPr>
            <a:r>
              <a:rPr sz="1700">
                <a:solidFill>
                  <a:srgbClr val="555555"/>
                </a:solidFill>
              </a:rPr>
              <a:t>– Reads each sheet's number/title (text + OCR), classifies plan vs schedule/legend/detail</a:t>
            </a:r>
          </a:p>
          <a:p>
            <a:pPr lvl="1">
              <a:spcAft>
                <a:spcPts val="700"/>
              </a:spcAft>
            </a:pPr>
            <a:r>
              <a:rPr sz="1700">
                <a:solidFill>
                  <a:srgbClr val="555555"/>
                </a:solidFill>
              </a:rPr>
              <a:t>– Routes pages: plans → detection, schedules → spec parsing, legend → symbol dictionary</a:t>
            </a:r>
          </a:p>
          <a:p>
            <a:pPr>
              <a:spcAft>
                <a:spcPts val="700"/>
              </a:spcAft>
            </a:pPr>
            <a:r>
              <a:rPr sz="1900" b="1">
                <a:solidFill>
                  <a:srgbClr val="0E2A47"/>
                </a:solidFill>
              </a:rPr>
              <a:t>• Result: zero real plans dropped (recall 1.00 on measured styles)</a:t>
            </a:r>
          </a:p>
          <a:p>
            <a:pPr lvl="1">
              <a:spcAft>
                <a:spcPts val="700"/>
              </a:spcAft>
            </a:pPr>
            <a:r>
              <a:rPr sz="1700">
                <a:solidFill>
                  <a:srgbClr val="555555"/>
                </a:solidFill>
              </a:rPr>
              <a:t>– Recovered plans the old logic skipped (one set: 4 → 10 pages) and removed phantom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Part 2 — Detecting the equipment (the AI's eyes)</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YOLOv8 vision model finds diffusers, grilles, registers, dampers, fans, units on the plans</a:t>
            </a:r>
          </a:p>
          <a:p>
            <a:pPr>
              <a:spcAft>
                <a:spcPts val="700"/>
              </a:spcAft>
            </a:pPr>
            <a:r>
              <a:rPr sz="1900" b="1">
                <a:solidFill>
                  <a:srgbClr val="0E2A47"/>
                </a:solidFill>
              </a:rPr>
              <a:t>• Measured on held-out drawings the model never trained on:</a:t>
            </a:r>
          </a:p>
          <a:p>
            <a:pPr lvl="1">
              <a:spcAft>
                <a:spcPts val="700"/>
              </a:spcAft>
            </a:pPr>
            <a:r>
              <a:rPr sz="1700">
                <a:solidFill>
                  <a:srgbClr val="555555"/>
                </a:solidFill>
              </a:rPr>
              <a:t>– Object-level recall 84%, precision 94% — it reliably finds the air-distribution products</a:t>
            </a:r>
          </a:p>
          <a:p>
            <a:pPr>
              <a:spcAft>
                <a:spcPts val="700"/>
              </a:spcAft>
            </a:pPr>
            <a:r>
              <a:rPr sz="1900" b="1">
                <a:solidFill>
                  <a:srgbClr val="0E2A47"/>
                </a:solidFill>
              </a:rPr>
              <a:t>• Key insight: the model FINDS the device; the SCHEDULE supplies the exact type &amp; specs</a:t>
            </a:r>
          </a:p>
          <a:p>
            <a:pPr lvl="1">
              <a:spcAft>
                <a:spcPts val="700"/>
              </a:spcAft>
            </a:pPr>
            <a:r>
              <a:rPr sz="1700">
                <a:solidFill>
                  <a:srgbClr val="555555"/>
                </a:solidFill>
              </a:rPr>
              <a:t>– So vision + schedule together = a complete, specced count — without guessing from the symbol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Part 3 — Schedules, tags &amp; reconciliation</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Parses the equipment schedule: each tag → CFM, neck size, model, brand, mounting</a:t>
            </a:r>
          </a:p>
          <a:p>
            <a:pPr>
              <a:spcAft>
                <a:spcPts val="700"/>
              </a:spcAft>
            </a:pPr>
            <a:r>
              <a:rPr sz="1900" b="1">
                <a:solidFill>
                  <a:srgbClr val="0E2A47"/>
                </a:solidFill>
              </a:rPr>
              <a:t>• Assigns each detected symbol its tag (direct map, callout text, bubble OCR)</a:t>
            </a:r>
          </a:p>
          <a:p>
            <a:pPr>
              <a:spcAft>
                <a:spcPts val="700"/>
              </a:spcAft>
            </a:pPr>
            <a:r>
              <a:rPr sz="1900" b="1">
                <a:solidFill>
                  <a:srgbClr val="0E2A47"/>
                </a:solidFill>
              </a:rPr>
              <a:t>• Matches detections to schedule rows; outputs specced line items</a:t>
            </a:r>
          </a:p>
          <a:p>
            <a:pPr>
              <a:spcAft>
                <a:spcPts val="700"/>
              </a:spcAft>
            </a:pPr>
            <a:r>
              <a:rPr sz="1900" b="1">
                <a:solidFill>
                  <a:srgbClr val="0E2A47"/>
                </a:solidFill>
              </a:rPr>
              <a:t>• Reconciles counts: 'schedule lists 7 RTUs, we found 5' → flags the gap honestly</a:t>
            </a:r>
          </a:p>
          <a:p>
            <a:pPr>
              <a:spcAft>
                <a:spcPts val="700"/>
              </a:spcAft>
            </a:pPr>
            <a:r>
              <a:rPr sz="1900" b="1">
                <a:solidFill>
                  <a:srgbClr val="0E2A47"/>
                </a:solidFill>
              </a:rPr>
              <a:t>• Product names come straight from the schedule (e.g. LAY-IN, PERFORATED FACE)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Part 4 — Output &amp; the self-improving loop</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Outputs: Excel takeoff (team's exact format) + annotated PDF + Bluebeam count stamps</a:t>
            </a:r>
          </a:p>
          <a:p>
            <a:pPr>
              <a:spcAft>
                <a:spcPts val="700"/>
              </a:spcAft>
            </a:pPr>
            <a:r>
              <a:rPr sz="1900" b="1">
                <a:solidFill>
                  <a:srgbClr val="0E2A47"/>
                </a:solidFill>
              </a:rPr>
              <a:t>• Estimator corrects mistakes in the UI / Bluebeam — every fix becomes training data</a:t>
            </a:r>
          </a:p>
          <a:p>
            <a:pPr>
              <a:spcAft>
                <a:spcPts val="700"/>
              </a:spcAft>
            </a:pPr>
            <a:r>
              <a:rPr sz="1900" b="1">
                <a:solidFill>
                  <a:srgbClr val="0E2A47"/>
                </a:solidFill>
              </a:rPr>
              <a:t>• Corrections → retrain the model → benchmark gate → deploy if it's better</a:t>
            </a:r>
          </a:p>
          <a:p>
            <a:pPr>
              <a:spcAft>
                <a:spcPts val="700"/>
              </a:spcAft>
            </a:pPr>
            <a:r>
              <a:rPr sz="1900" b="1">
                <a:solidFill>
                  <a:srgbClr val="0E2A47"/>
                </a:solidFill>
              </a:rPr>
              <a:t>• A flywheel: more use → more corrections → smarter model → less correction needed</a:t>
            </a:r>
          </a:p>
          <a:p>
            <a:pPr>
              <a:spcAft>
                <a:spcPts val="700"/>
              </a:spcAft>
            </a:pPr>
            <a:r>
              <a:rPr sz="1900" b="1">
                <a:solidFill>
                  <a:srgbClr val="0E2A47"/>
                </a:solidFill>
              </a:rPr>
              <a:t>• Safety rule: never ship a model that doesn't beat the current one on held-out drawings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Accuracy &amp; trust — how we keep it honest</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We measure against the team's own completed takeoffs and Bluebeam-marked ground truth</a:t>
            </a:r>
          </a:p>
          <a:p>
            <a:pPr lvl="1">
              <a:spcAft>
                <a:spcPts val="700"/>
              </a:spcAft>
            </a:pPr>
            <a:r>
              <a:rPr sz="1700">
                <a:solidFill>
                  <a:srgbClr val="555555"/>
                </a:solidFill>
              </a:rPr>
              <a:t>– Page selection: recall 1.00 (no dropped plans)</a:t>
            </a:r>
          </a:p>
          <a:p>
            <a:pPr lvl="1">
              <a:spcAft>
                <a:spcPts val="700"/>
              </a:spcAft>
            </a:pPr>
            <a:r>
              <a:rPr sz="1700">
                <a:solidFill>
                  <a:srgbClr val="555555"/>
                </a:solidFill>
              </a:rPr>
              <a:t>– Detection: 84% object recall / 94% precision on held-out plans</a:t>
            </a:r>
          </a:p>
          <a:p>
            <a:pPr>
              <a:spcAft>
                <a:spcPts val="700"/>
              </a:spcAft>
            </a:pPr>
            <a:r>
              <a:rPr sz="1900" b="1">
                <a:solidFill>
                  <a:srgbClr val="0E2A47"/>
                </a:solidFill>
              </a:rPr>
              <a:t>• The 'gate' blocks any model that doesn't improve on held-out data</a:t>
            </a:r>
          </a:p>
          <a:p>
            <a:pPr>
              <a:spcAft>
                <a:spcPts val="700"/>
              </a:spcAft>
            </a:pPr>
            <a:r>
              <a:rPr sz="1900" b="1">
                <a:solidFill>
                  <a:srgbClr val="0E2A47"/>
                </a:solidFill>
              </a:rPr>
              <a:t>• Reconciliation surfaces misses instead of hiding them — estimator stays in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The data advantage</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We mined Triune's own completed takeoffs into training data</a:t>
            </a:r>
          </a:p>
          <a:p>
            <a:pPr lvl="1">
              <a:spcAft>
                <a:spcPts val="700"/>
              </a:spcAft>
            </a:pPr>
            <a:r>
              <a:rPr sz="1700">
                <a:solidFill>
                  <a:srgbClr val="555555"/>
                </a:solidFill>
              </a:rPr>
              <a:t>– 279 past projects → ~46,000 labeled training tiles</a:t>
            </a:r>
          </a:p>
          <a:p>
            <a:pPr>
              <a:spcAft>
                <a:spcPts val="700"/>
              </a:spcAft>
            </a:pPr>
            <a:r>
              <a:rPr sz="1900" b="1">
                <a:solidFill>
                  <a:srgbClr val="0E2A47"/>
                </a:solidFill>
              </a:rPr>
              <a:t>• Equipment the model used to miss is now well-represented:</a:t>
            </a:r>
          </a:p>
          <a:p>
            <a:pPr lvl="1">
              <a:spcAft>
                <a:spcPts val="700"/>
              </a:spcAft>
            </a:pPr>
            <a:r>
              <a:rPr sz="1700">
                <a:solidFill>
                  <a:srgbClr val="555555"/>
                </a:solidFill>
              </a:rPr>
              <a:t>– Rooftop units 6 → 435 examples · Fire-smoke dampers 6 → 823 · Air devices 1,036 → 54,249</a:t>
            </a:r>
          </a:p>
          <a:p>
            <a:pPr>
              <a:spcAft>
                <a:spcPts val="700"/>
              </a:spcAft>
            </a:pPr>
            <a:r>
              <a:rPr sz="1900" b="1">
                <a:solidFill>
                  <a:srgbClr val="0E2A47"/>
                </a:solidFill>
              </a:rPr>
              <a:t>• The model learns from real Triune work — a compounding, proprietary asset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Where it stands today</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Live web app: upload → detect → correct → download takeoff</a:t>
            </a:r>
          </a:p>
          <a:p>
            <a:pPr>
              <a:spcAft>
                <a:spcPts val="700"/>
              </a:spcAft>
            </a:pPr>
            <a:r>
              <a:rPr sz="1900" b="1">
                <a:solidFill>
                  <a:srgbClr val="0E2A47"/>
                </a:solidFill>
              </a:rPr>
              <a:t>• Working now (production model): page selection, detection, schedule matching, correct product naming, honest reconciliation</a:t>
            </a:r>
          </a:p>
          <a:p>
            <a:pPr>
              <a:spcAft>
                <a:spcPts val="700"/>
              </a:spcAft>
            </a:pPr>
            <a:r>
              <a:rPr sz="1900" b="1">
                <a:solidFill>
                  <a:srgbClr val="0E2A47"/>
                </a:solidFill>
              </a:rPr>
              <a:t>• Built &amp; validated end-to-end: the retrain loop (data, recipe, benchmark gate)</a:t>
            </a:r>
          </a:p>
          <a:p>
            <a:pPr>
              <a:spcAft>
                <a:spcPts val="700"/>
              </a:spcAft>
            </a:pPr>
            <a:r>
              <a:rPr sz="1900" b="1">
                <a:solidFill>
                  <a:srgbClr val="0E2A47"/>
                </a:solidFill>
              </a:rPr>
              <a:t>• One step from a major detection upgrade: a ~30-min GPU training run on the new data</a:t>
            </a:r>
          </a:p>
          <a:p>
            <a:pPr>
              <a:spcAft>
                <a:spcPts val="700"/>
              </a:spcAft>
            </a:pPr>
            <a:r>
              <a:rPr sz="1900" b="1">
                <a:solidFill>
                  <a:srgbClr val="0E2A47"/>
                </a:solidFill>
              </a:rPr>
              <a:t>• Roadmap-ready: the architecture is modular and measured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Why this matters to Titus</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The tool's strongest capability is finding &amp; speccing air-distribution products — Titus's core</a:t>
            </a:r>
          </a:p>
          <a:p>
            <a:pPr>
              <a:spcAft>
                <a:spcPts val="700"/>
              </a:spcAft>
            </a:pPr>
            <a:r>
              <a:rPr sz="1900" b="1">
                <a:solidFill>
                  <a:srgbClr val="0E2A47"/>
                </a:solidFill>
              </a:rPr>
              <a:t>• It already extracts neck size, CFM, model, mounting per device</a:t>
            </a:r>
          </a:p>
          <a:p>
            <a:pPr>
              <a:spcAft>
                <a:spcPts val="700"/>
              </a:spcAft>
            </a:pPr>
            <a:r>
              <a:rPr sz="1900" b="1">
                <a:solidFill>
                  <a:srgbClr val="0E2A47"/>
                </a:solidFill>
              </a:rPr>
              <a:t>• Natural bridge to Titus Selection Navigator → part numbers, selections, pricing</a:t>
            </a:r>
          </a:p>
          <a:p>
            <a:pPr>
              <a:spcAft>
                <a:spcPts val="700"/>
              </a:spcAft>
            </a:pPr>
            <a:r>
              <a:rPr sz="1900" b="1">
                <a:solidFill>
                  <a:srgbClr val="0E2A47"/>
                </a:solidFill>
              </a:rPr>
              <a:t>• Faster, more accurate takeoffs → more Titus product correctly specified &amp; ordered</a:t>
            </a:r>
          </a:p>
          <a:p>
            <a:pPr>
              <a:spcAft>
                <a:spcPts val="700"/>
              </a:spcAft>
            </a:pPr>
            <a:r>
              <a:rPr sz="1900" b="1">
                <a:solidFill>
                  <a:srgbClr val="0E2A47"/>
                </a:solidFill>
              </a:rPr>
              <a:t>• A data partnership could tune the model to Titus product lines specifically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Future prospects</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Close the retrain loop → higher recall across all equipment classes</a:t>
            </a:r>
          </a:p>
          <a:p>
            <a:pPr>
              <a:spcAft>
                <a:spcPts val="700"/>
              </a:spcAft>
            </a:pPr>
            <a:r>
              <a:rPr sz="1900" b="1">
                <a:solidFill>
                  <a:srgbClr val="0E2A47"/>
                </a:solidFill>
              </a:rPr>
              <a:t>• Titus integration: detected air devices → Selection Navigator → auto Titus BOM + pricing</a:t>
            </a:r>
          </a:p>
          <a:p>
            <a:pPr>
              <a:spcAft>
                <a:spcPts val="700"/>
              </a:spcAft>
            </a:pPr>
            <a:r>
              <a:rPr sz="1900" b="1">
                <a:solidFill>
                  <a:srgbClr val="0E2A47"/>
                </a:solidFill>
              </a:rPr>
              <a:t>• Multi-document: spec books, addenda, Division 23 — full-project understanding</a:t>
            </a:r>
          </a:p>
          <a:p>
            <a:pPr>
              <a:spcAft>
                <a:spcPts val="700"/>
              </a:spcAft>
            </a:pPr>
            <a:r>
              <a:rPr sz="1900" b="1">
                <a:solidFill>
                  <a:srgbClr val="0E2A47"/>
                </a:solidFill>
              </a:rPr>
              <a:t>• Expand beyond HVAC: plumbing &amp; electrical takeoffs on the same engine</a:t>
            </a:r>
          </a:p>
          <a:p>
            <a:pPr>
              <a:spcAft>
                <a:spcPts val="700"/>
              </a:spcAft>
            </a:pPr>
            <a:r>
              <a:rPr sz="1900" b="1">
                <a:solidFill>
                  <a:srgbClr val="0E2A47"/>
                </a:solidFill>
              </a:rPr>
              <a:t>• SaaS product for HVAC contractors &amp; suppliers (a Rebar-class competitor)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The vision</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From: estimator manually counts and specs every device for hours</a:t>
            </a:r>
          </a:p>
          <a:p>
            <a:pPr>
              <a:spcAft>
                <a:spcPts val="700"/>
              </a:spcAft>
            </a:pPr>
            <a:r>
              <a:rPr sz="1900" b="1">
                <a:solidFill>
                  <a:srgbClr val="0E2A47"/>
                </a:solidFill>
              </a:rPr>
              <a:t>• To: drawing in → instant, specced, manufacturer-ready takeoff</a:t>
            </a:r>
          </a:p>
          <a:p>
            <a:pPr>
              <a:spcAft>
                <a:spcPts val="700"/>
              </a:spcAft>
            </a:pPr>
            <a:r>
              <a:rPr sz="1900" b="1">
                <a:solidFill>
                  <a:srgbClr val="0E2A47"/>
                </a:solidFill>
              </a:rPr>
              <a:t>• Faster quoting · fewer errors · more product correctly specified</a:t>
            </a:r>
          </a:p>
          <a:p>
            <a:pPr>
              <a:spcAft>
                <a:spcPts val="700"/>
              </a:spcAft>
            </a:pPr>
            <a:r>
              <a:rPr sz="1900" b="1">
                <a:solidFill>
                  <a:srgbClr val="0E2A47"/>
                </a:solidFill>
              </a:rPr>
              <a:t>• An assistant that gets smarter with every project the team completes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r>
              <a:rPr sz="2800" b="1">
                <a:solidFill>
                  <a:srgbClr val="FFFFFF"/>
                </a:solidFill>
              </a:rPr>
              <a:t>Discussion &amp; next steps</a:t>
            </a:r>
          </a:p>
        </p:txBody>
      </p:sp>
      <p:sp>
        <p:nvSpPr>
          <p:cNvPr id="4" name="TextBox 3"/>
          <p:cNvSpPr txBox="1"/>
          <p:nvPr/>
        </p:nvSpPr>
        <p:spPr>
          <a:xfrm>
            <a:off x="640080" y="1325880"/>
            <a:ext cx="10972800" cy="4937760"/>
          </a:xfrm>
          <a:prstGeom prst="rect">
            <a:avLst/>
          </a:prstGeom>
          <a:noFill/>
        </p:spPr>
        <p:txBody>
          <a:bodyPr wrap="square">
            <a:spAutoFit/>
          </a:bodyPr>
          <a:lstStyle/>
          <a:p>
            <a:pPr>
              <a:spcAft>
                <a:spcPts val="700"/>
              </a:spcAft>
            </a:pPr>
            <a:r>
              <a:rPr sz="1900" b="1">
                <a:solidFill>
                  <a:srgbClr val="0E2A47"/>
                </a:solidFill>
              </a:rPr>
              <a:t>• Demo the live tool on a real Titus-heavy project</a:t>
            </a:r>
          </a:p>
          <a:p>
            <a:pPr>
              <a:spcAft>
                <a:spcPts val="700"/>
              </a:spcAft>
            </a:pPr>
            <a:r>
              <a:rPr sz="1900" b="1">
                <a:solidFill>
                  <a:srgbClr val="0E2A47"/>
                </a:solidFill>
              </a:rPr>
              <a:t>• Explore a Titus Selection Navigator integration (product mapping &amp; pricing)</a:t>
            </a:r>
          </a:p>
          <a:p>
            <a:pPr>
              <a:spcAft>
                <a:spcPts val="700"/>
              </a:spcAft>
            </a:pPr>
            <a:r>
              <a:rPr sz="1900" b="1">
                <a:solidFill>
                  <a:srgbClr val="0E2A47"/>
                </a:solidFill>
              </a:rPr>
              <a:t>• Data collaboration to tune the model to Titus product lines</a:t>
            </a:r>
          </a:p>
          <a:p>
            <a:pPr>
              <a:spcAft>
                <a:spcPts val="700"/>
              </a:spcAft>
            </a:pPr>
            <a:r>
              <a:rPr sz="1900" b="1">
                <a:solidFill>
                  <a:srgbClr val="0E2A47"/>
                </a:solidFill>
              </a:rPr>
              <a:t>• Define a pilot: scope, success metrics,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